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hMPZ5gaxRNEltltUsAvDxLaKJX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6782033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c6782033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3ec7593a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c3ec7593a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3846600" y="747400"/>
            <a:ext cx="5297400" cy="42111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619075"/>
            <a:ext cx="85206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a_XUHBH8D19qWBqiP3OBYZJgZ9ZjgJNj/view" TargetMode="External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18450" y="242725"/>
            <a:ext cx="91071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cs" sz="3880"/>
              <a:t>Systém pro monitorování a analýzu dopravy pomocí počítačového vidění</a:t>
            </a:r>
            <a:endParaRPr b="1" sz="388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059575"/>
            <a:ext cx="85206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/>
              <a:t>Patrik Poklop</a:t>
            </a:r>
            <a:endParaRPr b="1"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36900" y="4367550"/>
            <a:ext cx="91071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1600"/>
              <a:t>Vedoucí:</a:t>
            </a:r>
            <a:r>
              <a:rPr lang="cs" sz="1600"/>
              <a:t> Ing. Roman Vaibar PhD. MBA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1600"/>
              <a:t>Studijní program:</a:t>
            </a:r>
            <a:r>
              <a:rPr lang="cs" sz="1600"/>
              <a:t> Api</a:t>
            </a:r>
            <a:endParaRPr sz="1600"/>
          </a:p>
        </p:txBody>
      </p:sp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311700" y="2839350"/>
            <a:ext cx="85206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cs" sz="1800"/>
              <a:t>Bakalářská práce</a:t>
            </a:r>
            <a:endParaRPr sz="1800"/>
          </a:p>
        </p:txBody>
      </p:sp>
      <p:pic>
        <p:nvPicPr>
          <p:cNvPr id="58" name="Google Shape;5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6825" y="4239087"/>
            <a:ext cx="2731500" cy="68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650" y="496275"/>
            <a:ext cx="3189275" cy="4150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sp>
        <p:nvSpPr>
          <p:cNvPr id="64" name="Google Shape;64;p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s"/>
              <a:t>Motivace</a:t>
            </a:r>
            <a:endParaRPr/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3846600" y="747400"/>
            <a:ext cx="5139300" cy="4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cs"/>
              <a:t>📝 Tradiční metody (Manuální sčítání)</a:t>
            </a:r>
            <a:r>
              <a:rPr lang="cs"/>
              <a:t> - Časová náročnost, nákladnost a náchylnost k chybám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cs"/>
              <a:t>🏙️ Moderní potřeby měst</a:t>
            </a:r>
            <a:r>
              <a:rPr lang="cs"/>
              <a:t> - P</a:t>
            </a:r>
            <a:r>
              <a:rPr lang="cs"/>
              <a:t>řesná </a:t>
            </a:r>
            <a:r>
              <a:rPr lang="cs"/>
              <a:t>dat v reálném čase -</a:t>
            </a:r>
            <a:r>
              <a:rPr lang="cs"/>
              <a:t> efektivní plánování infrastruktury (Smart Cities)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cs"/>
              <a:t>💡 </a:t>
            </a:r>
            <a:r>
              <a:rPr b="1" lang="cs"/>
              <a:t>Řešení </a:t>
            </a:r>
            <a:r>
              <a:rPr lang="cs"/>
              <a:t>- Automatizace sběru dat pomocí počítačového vidění a Edge AI technologií.</a:t>
            </a:r>
            <a:endParaRPr/>
          </a:p>
        </p:txBody>
      </p:sp>
      <p:cxnSp>
        <p:nvCxnSpPr>
          <p:cNvPr id="66" name="Google Shape;66;p2"/>
          <p:cNvCxnSpPr/>
          <p:nvPr/>
        </p:nvCxnSpPr>
        <p:spPr>
          <a:xfrm flipH="1" rot="10800000">
            <a:off x="3847050" y="3857450"/>
            <a:ext cx="5025300" cy="63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678203331_0_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s"/>
              <a:t>🎯 </a:t>
            </a:r>
            <a:r>
              <a:rPr lang="cs"/>
              <a:t>Cíle prác</a:t>
            </a:r>
            <a:r>
              <a:rPr lang="cs"/>
              <a:t>e</a:t>
            </a:r>
            <a:endParaRPr/>
          </a:p>
        </p:txBody>
      </p:sp>
      <p:sp>
        <p:nvSpPr>
          <p:cNvPr id="72" name="Google Shape;72;g3c678203331_0_0"/>
          <p:cNvSpPr txBox="1"/>
          <p:nvPr>
            <p:ph idx="1" type="body"/>
          </p:nvPr>
        </p:nvSpPr>
        <p:spPr>
          <a:xfrm>
            <a:off x="311700" y="683225"/>
            <a:ext cx="5793900" cy="4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cs"/>
              <a:t>Návrh architektury</a:t>
            </a:r>
            <a:r>
              <a:rPr lang="cs"/>
              <a:t> - Vytvořit systém pro automatické monitorování dopravy pomocí počítačového vidění.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Char char="➢"/>
            </a:pPr>
            <a:r>
              <a:rPr b="1" lang="cs"/>
              <a:t>Implementace detekce</a:t>
            </a:r>
            <a:r>
              <a:rPr lang="cs"/>
              <a:t> - Realizovat detekci, klasifikaci a počítání vozidel/osob v reálném čase.</a:t>
            </a:r>
            <a:endParaRPr/>
          </a:p>
          <a:p>
            <a:pPr indent="-342900" lvl="0" marL="457200" rtl="0" algn="l">
              <a:spcBef>
                <a:spcPts val="500"/>
              </a:spcBef>
              <a:spcAft>
                <a:spcPts val="0"/>
              </a:spcAft>
              <a:buSzPts val="1800"/>
              <a:buChar char="➢"/>
            </a:pPr>
            <a:r>
              <a:rPr b="1" lang="cs"/>
              <a:t>Vizualizace dat</a:t>
            </a:r>
            <a:r>
              <a:rPr lang="cs"/>
              <a:t> - Zajistit ukládání dat a jejich přehlednou prezentaci v analytickém dashboardu.</a:t>
            </a:r>
            <a:br>
              <a:rPr lang="cs"/>
            </a:br>
            <a:endParaRPr/>
          </a:p>
        </p:txBody>
      </p:sp>
      <p:pic>
        <p:nvPicPr>
          <p:cNvPr id="73" name="Google Shape;73;g3c67820333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0650" y="636725"/>
            <a:ext cx="2513865" cy="176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c67820333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4275" y="3015625"/>
            <a:ext cx="3664567" cy="176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c67820333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7150" y="2883350"/>
            <a:ext cx="2893651" cy="214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3ec7593a6_0_1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s" sz="2500">
                <a:solidFill>
                  <a:schemeClr val="dk2"/>
                </a:solidFill>
              </a:rPr>
              <a:t>Koncept řešení - </a:t>
            </a:r>
            <a:r>
              <a:rPr lang="cs" sz="2500">
                <a:solidFill>
                  <a:schemeClr val="dk2"/>
                </a:solidFill>
              </a:rPr>
              <a:t>Edge AI</a:t>
            </a:r>
            <a:endParaRPr sz="4600"/>
          </a:p>
        </p:txBody>
      </p:sp>
      <p:sp>
        <p:nvSpPr>
          <p:cNvPr id="81" name="Google Shape;81;g3c3ec7593a6_0_16"/>
          <p:cNvSpPr txBox="1"/>
          <p:nvPr>
            <p:ph idx="1" type="body"/>
          </p:nvPr>
        </p:nvSpPr>
        <p:spPr>
          <a:xfrm>
            <a:off x="311700" y="605875"/>
            <a:ext cx="8520600" cy="4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cs" sz="1400"/>
              <a:t>Princip:</a:t>
            </a:r>
            <a:r>
              <a:rPr lang="cs" sz="1400"/>
              <a:t> Zpracování dat probíhá přímo na zařízení (na hraně sítě), nikoliv na vzdáleném serveru.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cs" sz="1400"/>
              <a:t>Klíčové výhody:</a:t>
            </a:r>
            <a:r>
              <a:rPr lang="cs" sz="1400"/>
              <a:t> Nízká latence, vysoká rychlost⚡ | Ochrana soukromí (GDPR)🔒 | Úspora dat 📉</a:t>
            </a:r>
            <a:endParaRPr sz="1400"/>
          </a:p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82" name="Google Shape;82;g3c3ec7593a6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2275" y="1362125"/>
            <a:ext cx="4879450" cy="36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s"/>
              <a:t>⚙️ </a:t>
            </a:r>
            <a:r>
              <a:rPr lang="cs"/>
              <a:t>Hardwarová architektura</a:t>
            </a:r>
            <a:endParaRPr/>
          </a:p>
        </p:txBody>
      </p:sp>
      <p:pic>
        <p:nvPicPr>
          <p:cNvPr id="88" name="Google Shape;88;p6" title="OFI149_1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725" y="907125"/>
            <a:ext cx="2754500" cy="27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 title="f_ctilpa02za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-1375400"/>
            <a:ext cx="4233550" cy="473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6" title="axelera-metis-ai-accelerator-214tops-m2-2280-hero-removebg-preview.png"/>
          <p:cNvPicPr preferRelativeResize="0"/>
          <p:nvPr/>
        </p:nvPicPr>
        <p:blipFill rotWithShape="1">
          <a:blip r:embed="rId5">
            <a:alphaModFix/>
          </a:blip>
          <a:srcRect b="4340" l="-6750" r="6749" t="-4340"/>
          <a:stretch/>
        </p:blipFill>
        <p:spPr>
          <a:xfrm>
            <a:off x="4046600" y="1534750"/>
            <a:ext cx="4527925" cy="33979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 txBox="1"/>
          <p:nvPr/>
        </p:nvSpPr>
        <p:spPr>
          <a:xfrm>
            <a:off x="209475" y="3334450"/>
            <a:ext cx="413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300">
                <a:solidFill>
                  <a:schemeClr val="dk2"/>
                </a:solidFill>
              </a:rPr>
              <a:t>Výpočetní jednotka</a:t>
            </a:r>
            <a:r>
              <a:rPr lang="cs" sz="1300">
                <a:solidFill>
                  <a:schemeClr val="dk2"/>
                </a:solidFill>
              </a:rPr>
              <a:t> - Raspberry Pi 5 (OS Debian)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4585175" y="4269575"/>
            <a:ext cx="44379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300">
                <a:solidFill>
                  <a:schemeClr val="dk2"/>
                </a:solidFill>
              </a:rPr>
              <a:t>AI akcelerátor</a:t>
            </a:r>
            <a:r>
              <a:rPr lang="cs" sz="1300">
                <a:solidFill>
                  <a:schemeClr val="dk2"/>
                </a:solidFill>
              </a:rPr>
              <a:t> - Modul Hailo-8L (výkon až 26 TOPS)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4585175" y="1767000"/>
            <a:ext cx="420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300">
                <a:solidFill>
                  <a:schemeClr val="dk2"/>
                </a:solidFill>
              </a:rPr>
              <a:t>Senzor 📹</a:t>
            </a:r>
            <a:r>
              <a:rPr lang="cs" sz="1300">
                <a:solidFill>
                  <a:schemeClr val="dk2"/>
                </a:solidFill>
              </a:rPr>
              <a:t> - IP kamera/y vysílající RTSP stream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idx="1" type="body"/>
          </p:nvPr>
        </p:nvSpPr>
        <p:spPr>
          <a:xfrm>
            <a:off x="311700" y="619075"/>
            <a:ext cx="57996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cs" sz="1400"/>
              <a:t>Detekční pipeline:</a:t>
            </a:r>
            <a:r>
              <a:rPr lang="cs" sz="1400"/>
              <a:t> Python s využitím GStreamer frameworku pro zpracování videa pomocí Hailo AI s linux bash</a:t>
            </a:r>
            <a:endParaRPr sz="1400"/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cs" sz="1400"/>
              <a:t>Komunikace a Data:</a:t>
            </a:r>
            <a:endParaRPr b="1" sz="1400"/>
          </a:p>
          <a:p>
            <a:pPr indent="-31750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cs" sz="1400"/>
              <a:t>MQTT Broker</a:t>
            </a:r>
            <a:r>
              <a:rPr b="1" lang="cs" sz="1400"/>
              <a:t>📨</a:t>
            </a:r>
            <a:r>
              <a:rPr lang="cs" sz="1400"/>
              <a:t> - Protokol pro přenos dat / zpráv (JSON)</a:t>
            </a:r>
            <a:endParaRPr sz="1400"/>
          </a:p>
          <a:p>
            <a:pPr indent="-317500" lvl="0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cs" sz="1400"/>
              <a:t>PostgreSQL - Ukládání detekcí </a:t>
            </a:r>
            <a:endParaRPr sz="1400"/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cs" sz="1400"/>
              <a:t>FastAPI (backend) - Moderní asynchronní server pro obsluhu dat</a:t>
            </a:r>
            <a:endParaRPr sz="1400"/>
          </a:p>
        </p:txBody>
      </p:sp>
      <p:sp>
        <p:nvSpPr>
          <p:cNvPr id="99" name="Google Shape;99;p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s"/>
              <a:t>Softwarová architektura</a:t>
            </a:r>
            <a:endParaRPr/>
          </a:p>
        </p:txBody>
      </p:sp>
      <p:pic>
        <p:nvPicPr>
          <p:cNvPr id="100" name="Google Shape;10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0438" y="1543762"/>
            <a:ext cx="2663649" cy="95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1150" y="183300"/>
            <a:ext cx="1870426" cy="109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2188" y="3537187"/>
            <a:ext cx="1418772" cy="141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1898" y="2599890"/>
            <a:ext cx="1442231" cy="160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22350" y="2737075"/>
            <a:ext cx="27503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15549" y="3593800"/>
            <a:ext cx="1523649" cy="130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8325" y="2737074"/>
            <a:ext cx="1348875" cy="160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type="title"/>
          </p:nvPr>
        </p:nvSpPr>
        <p:spPr>
          <a:xfrm>
            <a:off x="311700" y="64025"/>
            <a:ext cx="85206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s"/>
              <a:t>Diagram architektury systému</a:t>
            </a:r>
            <a:endParaRPr/>
          </a:p>
        </p:txBody>
      </p:sp>
      <p:pic>
        <p:nvPicPr>
          <p:cNvPr id="112" name="Google Shape;11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9663"/>
            <a:ext cx="8839198" cy="4068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type="title"/>
          </p:nvPr>
        </p:nvSpPr>
        <p:spPr>
          <a:xfrm>
            <a:off x="311700" y="0"/>
            <a:ext cx="85206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cs" sz="2500"/>
              <a:t>Ukázka videa z pipeliny ▶️</a:t>
            </a:r>
            <a:endParaRPr sz="2500"/>
          </a:p>
        </p:txBody>
      </p:sp>
      <p:pic>
        <p:nvPicPr>
          <p:cNvPr id="118" name="Google Shape;118;p9" title="live_recording_with_ROI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9225" y="281775"/>
            <a:ext cx="4579925" cy="457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9"/>
          <p:cNvSpPr txBox="1"/>
          <p:nvPr/>
        </p:nvSpPr>
        <p:spPr>
          <a:xfrm>
            <a:off x="311700" y="809425"/>
            <a:ext cx="38187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cs">
                <a:solidFill>
                  <a:schemeClr val="dk2"/>
                </a:solidFill>
              </a:rPr>
              <a:t>Přetrénovaný</a:t>
            </a:r>
            <a:r>
              <a:rPr lang="cs">
                <a:solidFill>
                  <a:schemeClr val="dk2"/>
                </a:solidFill>
              </a:rPr>
              <a:t> model: YOLO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cs">
                <a:solidFill>
                  <a:schemeClr val="dk2"/>
                </a:solidFill>
              </a:rPr>
              <a:t>ROI zóna (červený čtverec)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cs">
                <a:solidFill>
                  <a:schemeClr val="dk2"/>
                </a:solidFill>
              </a:rPr>
              <a:t>Třídy: </a:t>
            </a:r>
            <a:r>
              <a:rPr b="1" lang="cs">
                <a:solidFill>
                  <a:schemeClr val="dk2"/>
                </a:solidFill>
              </a:rPr>
              <a:t>🚗, 🚛, 🚌, 🏍️, 🚶, 🚲</a:t>
            </a:r>
            <a:endParaRPr b="1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➢"/>
            </a:pPr>
            <a:r>
              <a:rPr lang="cs">
                <a:solidFill>
                  <a:schemeClr val="dk2"/>
                </a:solidFill>
              </a:rPr>
              <a:t>Počítání objektů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Char char="➢"/>
            </a:pPr>
            <a:r>
              <a:rPr lang="cs">
                <a:solidFill>
                  <a:schemeClr val="dk2"/>
                </a:solidFill>
              </a:rPr>
              <a:t>Celkový</a:t>
            </a:r>
            <a:r>
              <a:rPr lang="cs">
                <a:solidFill>
                  <a:schemeClr val="dk2"/>
                </a:solidFill>
              </a:rPr>
              <a:t> počet detekovaných objektů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>
            <p:ph type="title"/>
          </p:nvPr>
        </p:nvSpPr>
        <p:spPr>
          <a:xfrm>
            <a:off x="311700" y="192525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cs" sz="2500"/>
              <a:t>Ukázka dashboardu </a:t>
            </a:r>
            <a:r>
              <a:rPr lang="cs" sz="2500"/>
              <a:t>📊</a:t>
            </a:r>
            <a:endParaRPr sz="2500"/>
          </a:p>
        </p:txBody>
      </p:sp>
      <p:pic>
        <p:nvPicPr>
          <p:cNvPr id="125" name="Google Shape;12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50" y="66739"/>
            <a:ext cx="8910301" cy="501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48750" y="46375"/>
            <a:ext cx="508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s"/>
              <a:t>Harmonogram </a:t>
            </a:r>
            <a:r>
              <a:rPr lang="cs"/>
              <a:t>a další rozvoj 🚀</a:t>
            </a:r>
            <a:endParaRPr/>
          </a:p>
        </p:txBody>
      </p:sp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145800" y="760350"/>
            <a:ext cx="43431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Hotovo </a:t>
            </a:r>
            <a:r>
              <a:rPr b="1" lang="cs"/>
              <a:t>✓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2" name="Google Shape;132;p11"/>
          <p:cNvSpPr txBox="1"/>
          <p:nvPr>
            <p:ph idx="1" type="body"/>
          </p:nvPr>
        </p:nvSpPr>
        <p:spPr>
          <a:xfrm>
            <a:off x="4488900" y="760350"/>
            <a:ext cx="45648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/>
              <a:t>Budoucí plány 🔜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133" name="Google Shape;133;p11"/>
          <p:cNvCxnSpPr/>
          <p:nvPr/>
        </p:nvCxnSpPr>
        <p:spPr>
          <a:xfrm>
            <a:off x="4433850" y="711900"/>
            <a:ext cx="15000" cy="4360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1"/>
          <p:cNvCxnSpPr/>
          <p:nvPr/>
        </p:nvCxnSpPr>
        <p:spPr>
          <a:xfrm flipH="1" rot="10800000">
            <a:off x="48750" y="1200400"/>
            <a:ext cx="8785200" cy="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1"/>
          <p:cNvSpPr txBox="1"/>
          <p:nvPr>
            <p:ph idx="1" type="body"/>
          </p:nvPr>
        </p:nvSpPr>
        <p:spPr>
          <a:xfrm>
            <a:off x="4448850" y="1240750"/>
            <a:ext cx="4298100" cy="41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600"/>
              <a:buChar char="⬛"/>
            </a:pPr>
            <a:r>
              <a:rPr b="1" lang="cs"/>
              <a:t>Únor:</a:t>
            </a:r>
            <a:r>
              <a:rPr lang="cs"/>
              <a:t> Dlouhodo</a:t>
            </a:r>
            <a:r>
              <a:rPr lang="cs"/>
              <a:t>bý sběr dat. 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1600"/>
              <a:buChar char="⬛"/>
            </a:pPr>
            <a:r>
              <a:rPr b="1" lang="cs"/>
              <a:t>Březen: </a:t>
            </a:r>
            <a:r>
              <a:rPr lang="cs"/>
              <a:t>Testování a vyhodnocení dalších modelů na různých zařízeních (RPI, PC)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1600"/>
              <a:buChar char="⬛"/>
            </a:pPr>
            <a:r>
              <a:rPr b="1" lang="cs"/>
              <a:t>Duben</a:t>
            </a:r>
            <a:r>
              <a:rPr b="1" lang="cs"/>
              <a:t>:</a:t>
            </a:r>
            <a:r>
              <a:rPr lang="cs"/>
              <a:t> </a:t>
            </a:r>
            <a:r>
              <a:rPr lang="cs"/>
              <a:t>Finalizace textu BP </a:t>
            </a:r>
            <a:endParaRPr/>
          </a:p>
        </p:txBody>
      </p:sp>
      <p:sp>
        <p:nvSpPr>
          <p:cNvPr id="136" name="Google Shape;136;p11"/>
          <p:cNvSpPr txBox="1"/>
          <p:nvPr>
            <p:ph idx="1" type="body"/>
          </p:nvPr>
        </p:nvSpPr>
        <p:spPr>
          <a:xfrm>
            <a:off x="145800" y="1240750"/>
            <a:ext cx="4343100" cy="42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✅"/>
            </a:pPr>
            <a:r>
              <a:rPr b="1" lang="cs"/>
              <a:t>Ří</a:t>
            </a:r>
            <a:r>
              <a:rPr b="1" lang="cs"/>
              <a:t>jen/Listopad:</a:t>
            </a:r>
            <a:r>
              <a:rPr lang="cs"/>
              <a:t> </a:t>
            </a:r>
            <a:r>
              <a:rPr lang="cs" sz="1600"/>
              <a:t>Návrh architektury </a:t>
            </a:r>
            <a:r>
              <a:rPr lang="cs"/>
              <a:t>a výběr HW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✅"/>
            </a:pPr>
            <a:r>
              <a:rPr b="1" lang="cs"/>
              <a:t>Prosinec:</a:t>
            </a:r>
            <a:r>
              <a:rPr lang="cs"/>
              <a:t> Vytvoření vlastního prototypu a zprovoznění detekce na Hailo + RPi</a:t>
            </a:r>
            <a:r>
              <a:rPr lang="cs" sz="1600"/>
              <a:t> 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✅"/>
            </a:pPr>
            <a:r>
              <a:rPr b="1" lang="cs"/>
              <a:t>Leden:</a:t>
            </a:r>
            <a:r>
              <a:rPr lang="cs"/>
              <a:t> </a:t>
            </a:r>
            <a:r>
              <a:rPr lang="cs"/>
              <a:t>Propojení s DB s dashboardem, sběr a vyhodnocování krátkodobých testovacích dat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00">
            <a:alpha val="45882"/>
          </a:srgbClr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s"/>
              <a:t>Otázky❓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00">
            <a:alpha val="45882"/>
          </a:srgbClr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cs"/>
              <a:t>Děkuji za pozornost 👋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B2B2B"/>
      </a:dk1>
      <a:lt1>
        <a:srgbClr val="F5F7FA"/>
      </a:lt1>
      <a:dk2>
        <a:srgbClr val="1F3A5F"/>
      </a:dk2>
      <a:lt2>
        <a:srgbClr val="2B2B2B"/>
      </a:lt2>
      <a:accent1>
        <a:srgbClr val="1F3A5F"/>
      </a:accent1>
      <a:accent2>
        <a:srgbClr val="4A6FA5"/>
      </a:accent2>
      <a:accent3>
        <a:srgbClr val="4CAF50"/>
      </a:accent3>
      <a:accent4>
        <a:srgbClr val="E6A23C"/>
      </a:accent4>
      <a:accent5>
        <a:srgbClr val="0097A7"/>
      </a:accent5>
      <a:accent6>
        <a:srgbClr val="EEFF41"/>
      </a:accent6>
      <a:hlink>
        <a:srgbClr val="1F3A5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